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4040" y="731520"/>
            <a:ext cx="1965960" cy="1965960"/>
          </a:xfrm>
          <a:prstGeom prst="ellipse">
            <a:avLst/>
          </a:prstGeom>
          <a:solidFill>
            <a:srgbClr val="F6E5E8"/>
          </a:solidFill>
          <a:ln>
            <a:solidFill>
              <a:srgbClr val="F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68128" y="1417320"/>
            <a:ext cx="1353312" cy="1353312"/>
          </a:xfrm>
          <a:prstGeom prst="ellipse">
            <a:avLst/>
          </a:prstGeom>
          <a:solidFill>
            <a:srgbClr val="D3E1D7"/>
          </a:solidFill>
          <a:ln>
            <a:solidFill>
              <a:srgbClr val="D3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434840"/>
            <a:ext cx="1051560" cy="1051560"/>
          </a:xfrm>
          <a:prstGeom prst="ellipse">
            <a:avLst/>
          </a:prstGeom>
          <a:solidFill>
            <a:srgbClr val="E0C287"/>
          </a:solidFill>
          <a:ln>
            <a:solidFill>
              <a:srgbClr val="E0C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256032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42832" y="2761488"/>
            <a:ext cx="2148840" cy="32004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PATIENT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3255264"/>
            <a:ext cx="2148840" cy="29260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→ 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49808"/>
            <a:ext cx="3657600" cy="3108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1" i="0">
                <a:solidFill>
                  <a:srgbClr val="714862"/>
                </a:solidFill>
                <a:latin typeface="Aptos"/>
              </a:defRPr>
            </a:pPr>
            <a:r>
              <a:t>PROJECT PRESENTATION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7040880" cy="9144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4800" b="1" i="0">
                <a:solidFill>
                  <a:srgbClr val="532F4A"/>
                </a:solidFill>
                <a:latin typeface="Aptos"/>
              </a:defRPr>
            </a:pPr>
            <a:r>
              <a:t>NAARI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7086600" cy="7680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300" b="0" i="0">
                <a:solidFill>
                  <a:srgbClr val="322B30"/>
                </a:solidFill>
                <a:latin typeface="Aptos"/>
              </a:defRPr>
            </a:pPr>
            <a:r>
              <a:t>A PCOS-focused Digital Twin</a:t>
            </a:r>
            <a:br/>
            <a:r>
              <a:t>research and decision-support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93008"/>
            <a:ext cx="6263640" cy="54864"/>
          </a:xfrm>
          <a:prstGeom prst="roundRect">
            <a:avLst>
              <a:gd name="adj" fmla="val 12000"/>
            </a:avLst>
          </a:prstGeom>
          <a:solidFill>
            <a:srgbClr val="DDACB5"/>
          </a:solidFill>
          <a:ln>
            <a:solidFill>
              <a:srgbClr val="DDA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6629400" cy="6858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0" i="0">
                <a:solidFill>
                  <a:srgbClr val="6F646B"/>
                </a:solidFill>
                <a:latin typeface="Aptos"/>
              </a:defRPr>
            </a:pPr>
            <a:r>
              <a:t>Connecting clinical history, menstrual records, symptoms,</a:t>
            </a:r>
            <a:br/>
            <a:r>
              <a:t>simulated wearable data and short-term glucose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6400800" cy="259715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1" i="0">
                <a:solidFill>
                  <a:srgbClr val="714862"/>
                </a:solidFill>
                <a:latin typeface="Aptos"/>
              </a:defRPr>
            </a:pPr>
            <a:r>
              <a:rPr sz="1050"/>
              <a:t>Team: NAARI   •   College: BVRIT Hyderabad College of Engineering for Women</a:t>
            </a:r>
            <a:r>
              <a:rPr lang="en-US"/>
              <a:t/>
            </a:r>
            <a:r>
              <a:t/>
            </a:r>
            <a:r>
              <a:rPr lang="en-US"/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41264"/>
            <a:ext cx="6675120" cy="5029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1">
                <a:solidFill>
                  <a:srgbClr val="6F646B"/>
                </a:solidFill>
                <a:latin typeface="Aptos"/>
              </a:defRPr>
            </a:pPr>
            <a:r>
              <a:t>Research prototype • Synthetic demo data • Not clinically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45352"/>
            <a:ext cx="6629400" cy="23774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0" i="1">
                <a:solidFill>
                  <a:srgbClr val="6F646B"/>
                </a:solidFill>
                <a:latin typeface="Aptos"/>
              </a:defRPr>
            </a:pPr>
            <a:r>
              <a:rPr sz="900">
                <a:solidFill>
                  <a:srgbClr val="6F7786"/>
                </a:solidFill>
                <a:latin typeface="Aptos"/>
              </a:rPr>
              <a:t>Team members: Namratha Raj Goud Palpanoor (Lead) • Priyanka K • Samskruthi Batikiri • Sarayu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01  |  PROBLEM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Patient information is often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NAARI explores a way to review relevant information together over time.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73152" cy="155448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920240"/>
            <a:ext cx="308152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Clinical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12848"/>
            <a:ext cx="3081528" cy="11338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Lab reports, verified measurements and relevant medical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73152" cy="155448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920240"/>
            <a:ext cx="308152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Cycle &amp; 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212848"/>
            <a:ext cx="3081528" cy="11338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Recorded period starts, cycle intervals and patient-reported symptoms.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1828800"/>
            <a:ext cx="333756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1828800"/>
            <a:ext cx="73152" cy="1554480"/>
          </a:xfrm>
          <a:prstGeom prst="rect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920240"/>
            <a:ext cx="308152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Time-series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212848"/>
            <a:ext cx="3081528" cy="11338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Simulated glucose, heart rate and step readings across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94760"/>
            <a:ext cx="10698480" cy="41148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900" b="1" i="0">
                <a:solidFill>
                  <a:srgbClr val="532F4A"/>
                </a:solidFill>
                <a:latin typeface="Aptos"/>
              </a:defRPr>
            </a:pPr>
            <a:r>
              <a:t>NAARI’s focused prediction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407408"/>
            <a:ext cx="10680192" cy="1143000"/>
          </a:xfrm>
          <a:prstGeom prst="roundRect">
            <a:avLst>
              <a:gd name="adj" fmla="val 12000"/>
            </a:avLst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590288"/>
            <a:ext cx="2103120" cy="29260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1" i="0">
                <a:solidFill>
                  <a:srgbClr val="F6E5E8"/>
                </a:solidFill>
                <a:latin typeface="Aptos"/>
              </a:defRPr>
            </a:pPr>
            <a:r>
              <a:t>INPUT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28616"/>
            <a:ext cx="2194560" cy="3108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Previous 2 hours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4983480"/>
            <a:ext cx="594359" cy="0"/>
          </a:xfrm>
          <a:prstGeom prst="line">
            <a:avLst/>
          </a:prstGeom>
          <a:ln w="25400">
            <a:solidFill>
              <a:srgbClr val="DDA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4590288"/>
            <a:ext cx="1828800" cy="29260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1" i="0">
                <a:solidFill>
                  <a:srgbClr val="F6E5E8"/>
                </a:solidFill>
                <a:latin typeface="Aptos"/>
              </a:defRPr>
            </a:pPr>
            <a:r>
              <a:t>MODEL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28616"/>
            <a:ext cx="3154680" cy="3108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Glucose &gt;180 mg/dL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60920" y="4983480"/>
            <a:ext cx="612648" cy="0"/>
          </a:xfrm>
          <a:prstGeom prst="line">
            <a:avLst/>
          </a:prstGeom>
          <a:ln w="25400">
            <a:solidFill>
              <a:srgbClr val="DDA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56448" y="4590288"/>
            <a:ext cx="2514600" cy="29260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1" i="0">
                <a:solidFill>
                  <a:srgbClr val="F6E5E8"/>
                </a:solidFill>
                <a:latin typeface="Aptos"/>
              </a:defRPr>
            </a:pPr>
            <a:r>
              <a:t>PREDICTION HORIZON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4928616"/>
            <a:ext cx="2377440" cy="3108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Next 120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9848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50" b="0" i="1">
                <a:solidFill>
                  <a:srgbClr val="6F646B"/>
                </a:solidFill>
                <a:latin typeface="Aptos"/>
              </a:defRPr>
            </a:pPr>
            <a:r>
              <a:t>The model runs only when current glucose is at or below 180 mg/dL. It is experimental and trained on synthetic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02  |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How NAARI’s data flows through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Two data streams are reviewed and processed, then used by separate Twin and prediction components.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96012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18470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STATIC /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5688"/>
            <a:ext cx="1847087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Demographics, past history, reports, verified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73152" cy="96012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00400"/>
            <a:ext cx="18470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DYNAMIC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93008"/>
            <a:ext cx="1847087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Synthetic CGM glucose, heart rate and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169164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1691640"/>
            <a:ext cx="73152" cy="960120"/>
          </a:xfrm>
          <a:prstGeom prst="rect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1783080"/>
            <a:ext cx="21214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REPORT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075688"/>
            <a:ext cx="2121408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Upload → extraction → human review →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10896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108960"/>
            <a:ext cx="73152" cy="96012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72968" y="3200400"/>
            <a:ext cx="21214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3493008"/>
            <a:ext cx="2121408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Import preview → quality checks → accepted readings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176272"/>
            <a:ext cx="41148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06040" y="3593592"/>
            <a:ext cx="41148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06440" y="169164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1691640"/>
            <a:ext cx="73152" cy="123444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1888" y="1783080"/>
            <a:ext cx="20756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TWIN 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2075688"/>
            <a:ext cx="2075687" cy="81381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50" b="0" i="0">
                <a:solidFill>
                  <a:srgbClr val="322B30"/>
                </a:solidFill>
                <a:latin typeface="Aptos"/>
              </a:defRPr>
            </a:pPr>
            <a:r>
              <a:t>Saved state: verified clinical measurements + recent valid glucose summary. Prior versions are retained for comparison.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60" y="2176272"/>
            <a:ext cx="41148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94960" y="3584448"/>
            <a:ext cx="22860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623560" y="2651760"/>
            <a:ext cx="0" cy="932688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23560" y="2651760"/>
            <a:ext cx="18288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806440" y="3520440"/>
            <a:ext cx="2331720" cy="114300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06440" y="3520440"/>
            <a:ext cx="73152" cy="114300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61888" y="3611880"/>
            <a:ext cx="20756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ML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3904488"/>
            <a:ext cx="2075687" cy="72237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50" b="0" i="0">
                <a:solidFill>
                  <a:srgbClr val="322B30"/>
                </a:solidFill>
                <a:latin typeface="Aptos"/>
              </a:defRPr>
            </a:pPr>
            <a:r>
              <a:t>Gradient Boosting • prior 2h glucose, HR, steps, time of day and HbA1c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94960" y="3593592"/>
            <a:ext cx="411480" cy="384047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641080" y="1783080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1783080"/>
            <a:ext cx="73152" cy="960120"/>
          </a:xfrm>
          <a:prstGeom prst="rect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96528" y="1874519"/>
            <a:ext cx="25786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VERSION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2167128"/>
            <a:ext cx="2578608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Compare saved Twin states and data changes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3063240"/>
            <a:ext cx="28346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41080" y="3063240"/>
            <a:ext cx="73152" cy="96012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3154680"/>
            <a:ext cx="25786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1" i="0">
                <a:solidFill>
                  <a:srgbClr val="532F4A"/>
                </a:solidFill>
                <a:latin typeface="Aptos"/>
              </a:defRPr>
            </a:pPr>
            <a:r>
              <a:t>PREDICTION &amp;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3447288"/>
            <a:ext cx="2578608" cy="5394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00" b="0" i="0">
                <a:solidFill>
                  <a:srgbClr val="322B30"/>
                </a:solidFill>
                <a:latin typeface="Aptos"/>
              </a:defRPr>
            </a:pPr>
            <a:r>
              <a:t>Estimate the glucose event; compare with later CGM when covered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38160" y="2304288"/>
            <a:ext cx="50292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138160" y="3538728"/>
            <a:ext cx="502920" cy="530352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017520" y="5166360"/>
            <a:ext cx="8458200" cy="731520"/>
          </a:xfrm>
          <a:prstGeom prst="roundRect">
            <a:avLst>
              <a:gd name="adj" fmla="val 12000"/>
            </a:avLst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5321808"/>
            <a:ext cx="1874519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DOCTOR BRIEF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5321808"/>
            <a:ext cx="585216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Patient-specific summary of available records and limitations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012680" y="2743200"/>
            <a:ext cx="0" cy="1965960"/>
          </a:xfrm>
          <a:prstGeom prst="line">
            <a:avLst/>
          </a:prstGeom>
          <a:ln w="1905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12680" y="4709160"/>
            <a:ext cx="0" cy="457200"/>
          </a:xfrm>
          <a:prstGeom prst="line">
            <a:avLst/>
          </a:prstGeom>
          <a:ln w="1905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949440" y="4663440"/>
            <a:ext cx="0" cy="502920"/>
          </a:xfrm>
          <a:prstGeom prst="line">
            <a:avLst/>
          </a:prstGeom>
          <a:ln w="1905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6080760"/>
            <a:ext cx="1092708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0" i="1">
                <a:solidFill>
                  <a:srgbClr val="6F646B"/>
                </a:solidFill>
                <a:latin typeface="Aptos"/>
              </a:defRPr>
            </a:pPr>
            <a:r>
              <a:t>Boundary: cycle and symptom records remain separate in this release; HR and steps are model inputs but are not stored directly in the saved Twin state.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03  |  DIGITAL TWIN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A versioned summary, not just a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The application keeps source records, the saved Twin state and prediction inputs distinct.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29900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29968"/>
            <a:ext cx="2990087" cy="81381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Reports • verified lab values • menstrual history • symptoms • wearable imports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240280"/>
            <a:ext cx="502920" cy="0"/>
          </a:xfrm>
          <a:prstGeom prst="line">
            <a:avLst/>
          </a:prstGeom>
          <a:ln w="2540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645920"/>
            <a:ext cx="3017520" cy="123444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645920"/>
            <a:ext cx="73152" cy="123444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737360"/>
            <a:ext cx="2761487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TWIN SNAPSHOT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29968"/>
            <a:ext cx="2761487" cy="81381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Eligible verified clinical values + recent valid glucose summary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2240280"/>
            <a:ext cx="502921" cy="0"/>
          </a:xfrm>
          <a:prstGeom prst="line">
            <a:avLst/>
          </a:prstGeom>
          <a:ln w="2540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0" y="1645920"/>
            <a:ext cx="3154680" cy="123444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73152" cy="123444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737360"/>
            <a:ext cx="289864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600" b="1" i="0">
                <a:solidFill>
                  <a:srgbClr val="532F4A"/>
                </a:solidFill>
                <a:latin typeface="Aptos"/>
              </a:defRPr>
            </a:pPr>
            <a:r>
              <a:t>VERSION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029968"/>
            <a:ext cx="2898648" cy="81381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Inspect saved versions and identify what changed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520440"/>
            <a:ext cx="5029200" cy="32918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800" b="1" i="0">
                <a:solidFill>
                  <a:srgbClr val="532F4A"/>
                </a:solidFill>
                <a:latin typeface="Aptos"/>
              </a:defRPr>
            </a:pPr>
            <a:r>
              <a:t>What the Twin keeps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977639"/>
            <a:ext cx="489204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Verified clinical measurements</a:t>
            </a:r>
          </a:p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Recent valid glucose-data summary</a:t>
            </a:r>
          </a:p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Dated, versioned snapshots for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40"/>
            <a:ext cx="4663440" cy="32918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800" b="1" i="0">
                <a:solidFill>
                  <a:srgbClr val="532F4A"/>
                </a:solidFill>
                <a:latin typeface="Aptos"/>
              </a:defRPr>
            </a:pPr>
            <a:r>
              <a:t>What remains separate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77639"/>
            <a:ext cx="498348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Menstrual-cycle and symptom history</a:t>
            </a:r>
          </a:p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Heart rate and steps used as prediction features</a:t>
            </a:r>
          </a:p>
          <a:p>
            <a:pPr>
              <a:spcAft>
                <a:spcPts val="8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Raw/source records that can be inspected separately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687568"/>
            <a:ext cx="10652760" cy="420624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F6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760720"/>
            <a:ext cx="10241280" cy="2194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ctr">
              <a:defRPr sz="1100" b="1" i="0">
                <a:solidFill>
                  <a:srgbClr val="532F4A"/>
                </a:solidFill>
                <a:latin typeface="Aptos"/>
              </a:defRPr>
            </a:pPr>
            <a:r>
              <a:t>A saved Twin update is distinct from running a prediction.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04  | 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A narrow, clearly defined prediction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The current model demonstrates integration of a trained ML model into the application; it is not a PCOS diagnostic model.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880360" cy="132588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73152" cy="132588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262432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532F4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9968"/>
            <a:ext cx="2624328" cy="9052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Recent glucose summary • heart-rate mean • steps • time of day • latest verified HbA1c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286000"/>
            <a:ext cx="640080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64592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73152" cy="1325880"/>
          </a:xfrm>
          <a:prstGeom prst="rect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37360"/>
            <a:ext cx="28072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532F4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29968"/>
            <a:ext cx="2807208" cy="9052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GradientBoostingClassifier (scikit-learn), trained on synthetic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286000"/>
            <a:ext cx="640081" cy="0"/>
          </a:xfrm>
          <a:prstGeom prst="line">
            <a:avLst/>
          </a:prstGeom>
          <a:ln w="21590">
            <a:solidFill>
              <a:srgbClr val="7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164592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73152" cy="132588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737360"/>
            <a:ext cx="303580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532F4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029968"/>
            <a:ext cx="3035808" cy="9052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050" b="0" i="0">
                <a:solidFill>
                  <a:srgbClr val="322B30"/>
                </a:solidFill>
                <a:latin typeface="Aptos"/>
              </a:defRPr>
            </a:pPr>
            <a:r>
              <a:t>Estimated likelihood of glucose &gt;180 mg/dL in the next 120 minutes, when current glucose ≤180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4846320" cy="32918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800" b="1" i="0">
                <a:solidFill>
                  <a:srgbClr val="532F4A"/>
                </a:solidFill>
                <a:latin typeface="Aptos"/>
              </a:defRPr>
            </a:pPr>
            <a:r>
              <a:t>Evaluation shown in the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50208"/>
            <a:ext cx="484632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Gradient Boosting compared with a logistic-regression baseline</a:t>
            </a:r>
          </a:p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Metrics include AUROC, AUPRC, recall, precision and Brier score</a:t>
            </a:r>
          </a:p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Grouped patient split in the training/evaluation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40"/>
            <a:ext cx="4754880" cy="32918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800" b="1" i="0">
                <a:solidFill>
                  <a:srgbClr val="532F4A"/>
                </a:solidFill>
                <a:latin typeface="Aptos"/>
              </a:defRPr>
            </a:pPr>
            <a:r>
              <a:t>Interpretation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50208"/>
            <a:ext cx="498348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Synthetic training data; no clinical validation</a:t>
            </a:r>
          </a:p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A model score is not a confirmed medical risk</a:t>
            </a:r>
          </a:p>
          <a:p>
            <a:pPr>
              <a:spcAft>
                <a:spcPts val="800"/>
              </a:spcAft>
              <a:defRPr sz="1250" b="0">
                <a:solidFill>
                  <a:srgbClr val="322B30"/>
                </a:solidFill>
                <a:latin typeface="Aptos"/>
              </a:defRPr>
            </a:pPr>
            <a:r>
              <a:t>•  Does not predict PCOS diagnosis, cycle date, ovulation or fertility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687568"/>
            <a:ext cx="10652760" cy="420624"/>
          </a:xfrm>
          <a:prstGeom prst="roundRect">
            <a:avLst>
              <a:gd name="adj" fmla="val 12000"/>
            </a:avLst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10195560" cy="2194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The technical objective is a glucose-event prediction, not a claim of clinical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05  | 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What the reviewer can see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The demo follows one detailed patient, then checks how the app handles limited or empty records.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91640"/>
            <a:ext cx="393192" cy="393192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Select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Ananya / Meera / Kavya; distinct data availability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2093976"/>
            <a:ext cx="0" cy="265175"/>
          </a:xfrm>
          <a:prstGeom prst="line">
            <a:avLst/>
          </a:prstGeom>
          <a:ln w="12700">
            <a:solidFill>
              <a:srgbClr val="E0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2960" y="2377439"/>
            <a:ext cx="393192" cy="393192"/>
          </a:xfrm>
          <a:prstGeom prst="ellipse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77439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317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Review a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317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Upload or inspect sample PDF; review extracted fields before approval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" y="2779776"/>
            <a:ext cx="0" cy="265175"/>
          </a:xfrm>
          <a:prstGeom prst="line">
            <a:avLst/>
          </a:prstGeom>
          <a:ln w="12700">
            <a:solidFill>
              <a:srgbClr val="E0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" y="3063239"/>
            <a:ext cx="393192" cy="393192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63239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175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Explore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0175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Lab tests, cycle timeline, symptom severity and wearable time-series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128" y="3465576"/>
            <a:ext cx="0" cy="265176"/>
          </a:xfrm>
          <a:prstGeom prst="line">
            <a:avLst/>
          </a:prstGeom>
          <a:ln w="12700">
            <a:solidFill>
              <a:srgbClr val="E0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2960" y="3749039"/>
            <a:ext cx="393192" cy="393192"/>
          </a:xfrm>
          <a:prstGeom prst="ellipse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033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Import later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7033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Validate a synthetic CGM batch and update the saved Twin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24128" y="4151376"/>
            <a:ext cx="0" cy="265176"/>
          </a:xfrm>
          <a:prstGeom prst="line">
            <a:avLst/>
          </a:prstGeom>
          <a:ln w="12700">
            <a:solidFill>
              <a:srgbClr val="E0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2960" y="4434840"/>
            <a:ext cx="393192" cy="393192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34840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3891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Inspect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3891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Run prediction when ready; show input features and evaluation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4128" y="4837176"/>
            <a:ext cx="0" cy="265176"/>
          </a:xfrm>
          <a:prstGeom prst="line">
            <a:avLst/>
          </a:prstGeom>
          <a:ln w="12700">
            <a:solidFill>
              <a:srgbClr val="E0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2960" y="5120640"/>
            <a:ext cx="393192" cy="393192"/>
          </a:xfrm>
          <a:prstGeom prst="ellipse">
            <a:avLst/>
          </a:prstGeom>
          <a:solidFill>
            <a:srgbClr val="714862"/>
          </a:solidFill>
          <a:ln>
            <a:solidFill>
              <a:srgbClr val="71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20640"/>
            <a:ext cx="393192" cy="393192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074920"/>
            <a:ext cx="2148840" cy="27432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400" b="1" i="0">
                <a:solidFill>
                  <a:srgbClr val="532F4A"/>
                </a:solidFill>
                <a:latin typeface="Aptos"/>
              </a:defRPr>
            </a:pPr>
            <a:r>
              <a:t>Generate 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074920"/>
            <a:ext cx="7543800" cy="40233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00" b="0" i="0">
                <a:solidFill>
                  <a:srgbClr val="322B30"/>
                </a:solidFill>
                <a:latin typeface="Aptos"/>
              </a:defRPr>
            </a:pPr>
            <a:r>
              <a:t>Patient-specific Doctor Brief for clinical review / PDF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5303520" cy="228600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06  |  OUTCOME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09960" cy="47548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2600" b="1" i="0">
                <a:solidFill>
                  <a:srgbClr val="532F4A"/>
                </a:solidFill>
                <a:latin typeface="Aptos"/>
              </a:defRPr>
            </a:pPr>
            <a:r>
              <a:t>A working research prototype with explicit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4747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150" b="0" i="0">
                <a:solidFill>
                  <a:srgbClr val="6F646B"/>
                </a:solidFill>
                <a:latin typeface="Aptos"/>
              </a:defRPr>
            </a:pPr>
            <a:r>
              <a:t>NAARI demonstrates a data-to-model workflow while keeping synthetic evidence and clinical readiness separate.</a:t>
            </a:r>
          </a:p>
        </p:txBody>
      </p:sp>
      <p:sp>
        <p:nvSpPr>
          <p:cNvPr id="5" name="Oval 4"/>
          <p:cNvSpPr/>
          <p:nvPr/>
        </p:nvSpPr>
        <p:spPr>
          <a:xfrm>
            <a:off x="11109960" y="292608"/>
            <a:ext cx="310896" cy="310896"/>
          </a:xfrm>
          <a:prstGeom prst="ellipse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310896" cy="310896"/>
          </a:xfrm>
          <a:prstGeom prst="rect">
            <a:avLst/>
          </a:prstGeom>
          <a:noFill/>
        </p:spPr>
        <p:txBody>
          <a:bodyPr wrap="square" lIns="109728" tIns="54864" rIns="109728" bIns="36576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D3E1D7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73152" cy="1417320"/>
          </a:xfrm>
          <a:prstGeom prst="rect">
            <a:avLst/>
          </a:prstGeom>
          <a:solidFill>
            <a:srgbClr val="3A6750"/>
          </a:solidFill>
          <a:ln>
            <a:solidFill>
              <a:srgbClr val="3A6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481888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532F4A"/>
                </a:solidFill>
                <a:latin typeface="Aptos"/>
              </a:defRPr>
            </a:pPr>
            <a:r>
              <a:t>WHAT THE PROTOTYPE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818888" cy="9966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Report review and approval • imported time-series validation • versioned Twin snapshots • glucose-event prediction • patient-specific Doctor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074920" cy="1417320"/>
          </a:xfrm>
          <a:prstGeom prst="roundRect">
            <a:avLst>
              <a:gd name="adj" fmla="val 12000"/>
            </a:avLst>
          </a:prstGeom>
          <a:solidFill>
            <a:srgbClr val="F6E5E8"/>
          </a:solidFill>
          <a:ln>
            <a:solidFill>
              <a:srgbClr val="E0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1417320"/>
          </a:xfrm>
          <a:prstGeom prst="rect">
            <a:avLst/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83080"/>
            <a:ext cx="4818888" cy="25603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500" b="1" i="0">
                <a:solidFill>
                  <a:srgbClr val="532F4A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75688"/>
            <a:ext cx="4818888" cy="99669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200" b="0" i="0">
                <a:solidFill>
                  <a:srgbClr val="322B30"/>
                </a:solidFill>
                <a:latin typeface="Aptos"/>
              </a:defRPr>
            </a:pPr>
            <a:r>
              <a:t>Synthetic demo data • no live sensor connection • prediction not clinically validated • no PCOS diagnostic or fertility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4572000" cy="329184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1800" b="1" i="0">
                <a:solidFill>
                  <a:srgbClr val="532F4A"/>
                </a:solidFill>
                <a:latin typeface="Aptos"/>
              </a:defRPr>
            </a:pPr>
            <a:r>
              <a:t>Next research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78224"/>
            <a:ext cx="10378440" cy="14173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Evaluate with suitable, ethically permitted and properly governed research data.</a:t>
            </a:r>
          </a:p>
          <a:p>
            <a:pPr>
              <a:spcAft>
                <a:spcPts val="9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Assess model generalisation, calibration and clinical usefulness before real-world use.</a:t>
            </a:r>
          </a:p>
          <a:p>
            <a:pPr>
              <a:spcAft>
                <a:spcPts val="900"/>
              </a:spcAft>
              <a:defRPr sz="1300" b="0">
                <a:solidFill>
                  <a:srgbClr val="322B30"/>
                </a:solidFill>
                <a:latin typeface="Aptos"/>
              </a:defRPr>
            </a:pPr>
            <a:r>
              <a:t>•  Explore reliable sensor integration and prospective validation only after the appropriate safeguards are in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733288"/>
            <a:ext cx="10469880" cy="420624"/>
          </a:xfrm>
          <a:prstGeom prst="roundRect">
            <a:avLst>
              <a:gd name="adj" fmla="val 12000"/>
            </a:avLst>
          </a:prstGeom>
          <a:solidFill>
            <a:srgbClr val="532F4A"/>
          </a:solidFill>
          <a:ln>
            <a:solidFill>
              <a:srgbClr val="53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97296"/>
            <a:ext cx="10104120" cy="219456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NAARI is a clinical decision-support research prototype, not a diagnostic or treatment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9144000" cy="164592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>
              <a:defRPr sz="800" b="1" i="0">
                <a:solidFill>
                  <a:srgbClr val="6F646B"/>
                </a:solidFill>
                <a:latin typeface="Aptos"/>
              </a:defRPr>
            </a:pPr>
            <a:r>
              <a:t>NAARI  •  PCOS DIGITAL TWIN RESEARCH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</p:spPr>
        <p:txBody>
          <a:bodyPr wrap="square" lIns="109728" tIns="54864" rIns="109728" bIns="36576" anchor="t">
            <a:spAutoFit/>
          </a:bodyPr>
          <a:lstStyle/>
          <a:p>
            <a:pPr algn="r">
              <a:defRPr sz="900" b="1" i="0">
                <a:solidFill>
                  <a:srgbClr val="71486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5576</Words>
  <Application>WPS Presentation</Application>
  <PresentationFormat>On-screen Show (4:3)</PresentationFormat>
  <Paragraphs>260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SARAYU PENUMATCHA</cp:lastModifiedBy>
  <cp:revision>3</cp:revision>
  <dcterms:created xsi:type="dcterms:W3CDTF">2013-01-27T09:14:00Z</dcterms:created>
  <dcterms:modified xsi:type="dcterms:W3CDTF">2026-10-20T04:25:04Z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5C18676F4F874BE78A31181AB58B33ED_12</vt:lpwstr>
  </property>
  <property fmtid="{D5CDD505-2E9C-101B-9397-08002B2CF9AE}" pid="3" name="KSOProductBuildVer">
    <vt:lpwstr>1033-12.1.0.29162</vt:lpwstr>
  </property>
</Properties>
</file>