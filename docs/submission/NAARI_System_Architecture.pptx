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28600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000" b="1" i="0">
                <a:solidFill>
                  <a:srgbClr val="704766"/>
                </a:solidFill>
                <a:latin typeface="Aptos"/>
              </a:rPr>
              <a:t>02  |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21207"/>
            <a:ext cx="1069848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500" b="1" i="0">
                <a:solidFill>
                  <a:srgbClr val="56304F"/>
                </a:solidFill>
                <a:latin typeface="Aptos"/>
              </a:rPr>
              <a:t>How NAARI’s data flows through 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024128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50" b="0" i="0">
                <a:solidFill>
                  <a:srgbClr val="756970"/>
                </a:solidFill>
                <a:latin typeface="Aptos"/>
              </a:rPr>
              <a:t>Two data streams are reviewed and processed, then used by separate Twin and prediction components.</a:t>
            </a:r>
          </a:p>
        </p:txBody>
      </p:sp>
      <p:sp>
        <p:nvSpPr>
          <p:cNvPr id="5" name="Oval 4"/>
          <p:cNvSpPr/>
          <p:nvPr/>
        </p:nvSpPr>
        <p:spPr>
          <a:xfrm>
            <a:off x="11228832" y="201168"/>
            <a:ext cx="384048" cy="384048"/>
          </a:xfrm>
          <a:prstGeom prst="ellipse">
            <a:avLst/>
          </a:prstGeom>
          <a:solidFill>
            <a:srgbClr val="5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39" y="2258568"/>
            <a:ext cx="411481" cy="0"/>
          </a:xfrm>
          <a:prstGeom prst="line">
            <a:avLst/>
          </a:prstGeom>
          <a:ln w="20955">
            <a:solidFill>
              <a:srgbClr val="7047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77840" y="2258568"/>
            <a:ext cx="411480" cy="0"/>
          </a:xfrm>
          <a:prstGeom prst="line">
            <a:avLst/>
          </a:prstGeom>
          <a:ln w="20955">
            <a:solidFill>
              <a:srgbClr val="7047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258568"/>
            <a:ext cx="411480" cy="0"/>
          </a:xfrm>
          <a:prstGeom prst="line">
            <a:avLst/>
          </a:prstGeom>
          <a:ln w="20955">
            <a:solidFill>
              <a:srgbClr val="7047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34639" y="4032504"/>
            <a:ext cx="411481" cy="0"/>
          </a:xfrm>
          <a:prstGeom prst="line">
            <a:avLst/>
          </a:prstGeom>
          <a:ln w="20955">
            <a:solidFill>
              <a:srgbClr val="3B6B5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77840" y="4032504"/>
            <a:ext cx="411480" cy="0"/>
          </a:xfrm>
          <a:prstGeom prst="line">
            <a:avLst/>
          </a:prstGeom>
          <a:ln w="20955">
            <a:solidFill>
              <a:srgbClr val="3B6B5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4032504"/>
            <a:ext cx="411480" cy="0"/>
          </a:xfrm>
          <a:prstGeom prst="line">
            <a:avLst/>
          </a:prstGeom>
          <a:ln w="20955">
            <a:solidFill>
              <a:srgbClr val="3B6B5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411979" y="3127248"/>
            <a:ext cx="0" cy="347472"/>
          </a:xfrm>
          <a:prstGeom prst="line">
            <a:avLst/>
          </a:prstGeom>
          <a:ln w="19050">
            <a:solidFill>
              <a:srgbClr val="3B6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11979" y="3127248"/>
            <a:ext cx="2743200" cy="0"/>
          </a:xfrm>
          <a:prstGeom prst="line">
            <a:avLst/>
          </a:prstGeom>
          <a:ln w="19050">
            <a:solidFill>
              <a:srgbClr val="3B6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155179" y="2816352"/>
            <a:ext cx="0" cy="310896"/>
          </a:xfrm>
          <a:prstGeom prst="line">
            <a:avLst/>
          </a:prstGeom>
          <a:ln w="19050">
            <a:solidFill>
              <a:srgbClr val="3B6B5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27944" y="2816352"/>
            <a:ext cx="0" cy="310896"/>
          </a:xfrm>
          <a:prstGeom prst="line">
            <a:avLst/>
          </a:prstGeom>
          <a:ln w="19050">
            <a:solidFill>
              <a:srgbClr val="704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527944" y="3127248"/>
            <a:ext cx="883768" cy="0"/>
          </a:xfrm>
          <a:prstGeom prst="line">
            <a:avLst/>
          </a:prstGeom>
          <a:ln w="19050">
            <a:solidFill>
              <a:srgbClr val="704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11712" y="3127248"/>
            <a:ext cx="0" cy="1746504"/>
          </a:xfrm>
          <a:prstGeom prst="line">
            <a:avLst/>
          </a:prstGeom>
          <a:ln w="19050">
            <a:solidFill>
              <a:srgbClr val="704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720840" y="4873752"/>
            <a:ext cx="4690872" cy="0"/>
          </a:xfrm>
          <a:prstGeom prst="line">
            <a:avLst/>
          </a:prstGeom>
          <a:ln w="19050">
            <a:solidFill>
              <a:srgbClr val="704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98380" y="4590288"/>
            <a:ext cx="0" cy="283464"/>
          </a:xfrm>
          <a:prstGeom prst="line">
            <a:avLst/>
          </a:prstGeom>
          <a:ln w="19050">
            <a:solidFill>
              <a:srgbClr val="3B6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20840" y="4873752"/>
            <a:ext cx="0" cy="365760"/>
          </a:xfrm>
          <a:prstGeom prst="line">
            <a:avLst/>
          </a:prstGeom>
          <a:ln w="22860">
            <a:solidFill>
              <a:srgbClr val="56304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" y="1700784"/>
            <a:ext cx="2331720" cy="1115568"/>
          </a:xfrm>
          <a:prstGeom prst="roundRect">
            <a:avLst/>
          </a:prstGeom>
          <a:solidFill>
            <a:srgbClr val="F5E5E8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1700784"/>
            <a:ext cx="82296" cy="1115568"/>
          </a:xfrm>
          <a:prstGeom prst="rect">
            <a:avLst/>
          </a:prstGeom>
          <a:solidFill>
            <a:srgbClr val="5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1837944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STATIC /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2121408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302B30"/>
                </a:solidFill>
                <a:latin typeface="Aptos"/>
              </a:rPr>
              <a:t>Demographics, past history, reports, verified labs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1700784"/>
            <a:ext cx="23317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1700784"/>
            <a:ext cx="82296" cy="1115568"/>
          </a:xfrm>
          <a:prstGeom prst="rect">
            <a:avLst/>
          </a:prstGeom>
          <a:solidFill>
            <a:srgbClr val="70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3863" y="1837944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REPORT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3863" y="2121408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0">
                <a:solidFill>
                  <a:srgbClr val="302B30"/>
                </a:solidFill>
                <a:latin typeface="Aptos"/>
              </a:rPr>
              <a:t>Upload → extraction → human review → approval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1700784"/>
            <a:ext cx="2331720" cy="1115568"/>
          </a:xfrm>
          <a:prstGeom prst="roundRect">
            <a:avLst/>
          </a:prstGeom>
          <a:solidFill>
            <a:srgbClr val="F5E5E8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1700784"/>
            <a:ext cx="82296" cy="1115568"/>
          </a:xfrm>
          <a:prstGeom prst="rect">
            <a:avLst/>
          </a:prstGeom>
          <a:solidFill>
            <a:srgbClr val="56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1837944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TWIN SNAPSHOT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2121408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302B30"/>
                </a:solidFill>
                <a:latin typeface="Aptos"/>
              </a:rPr>
              <a:t>Verified clinical measurements + recent valid glucose summary. Prior versions kept for comparison.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1700784"/>
            <a:ext cx="23317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32520" y="1700784"/>
            <a:ext cx="82296" cy="1115568"/>
          </a:xfrm>
          <a:prstGeom prst="rect">
            <a:avLst/>
          </a:prstGeom>
          <a:solidFill>
            <a:srgbClr val="704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0264" y="1837944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VERSION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0264" y="2121408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0">
                <a:solidFill>
                  <a:srgbClr val="302B30"/>
                </a:solidFill>
                <a:latin typeface="Aptos"/>
              </a:rPr>
              <a:t>Compare saved Twin states and data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474720"/>
            <a:ext cx="2331720" cy="1115568"/>
          </a:xfrm>
          <a:prstGeom prst="roundRect">
            <a:avLst/>
          </a:prstGeom>
          <a:solidFill>
            <a:srgbClr val="DCE9E0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474720"/>
            <a:ext cx="82296" cy="1115568"/>
          </a:xfrm>
          <a:prstGeom prst="rect">
            <a:avLst/>
          </a:prstGeom>
          <a:solidFill>
            <a:srgbClr val="3B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3611879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DYNAMIC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" y="3895344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0">
                <a:solidFill>
                  <a:srgbClr val="302B30"/>
                </a:solidFill>
                <a:latin typeface="Aptos"/>
              </a:rPr>
              <a:t>Synthetic CGM glucose, heart rate and steps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46120" y="3474720"/>
            <a:ext cx="23317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6120" y="3474720"/>
            <a:ext cx="82296" cy="1115568"/>
          </a:xfrm>
          <a:prstGeom prst="rect">
            <a:avLst/>
          </a:prstGeom>
          <a:solidFill>
            <a:srgbClr val="3B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83863" y="3611879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DATA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3863" y="3895344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0">
                <a:solidFill>
                  <a:srgbClr val="302B30"/>
                </a:solidFill>
                <a:latin typeface="Aptos"/>
              </a:rPr>
              <a:t>Import preview → quality checks → accepted readings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3474720"/>
            <a:ext cx="2331720" cy="1115568"/>
          </a:xfrm>
          <a:prstGeom prst="roundRect">
            <a:avLst/>
          </a:prstGeom>
          <a:solidFill>
            <a:srgbClr val="D3E1D8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89320" y="3474720"/>
            <a:ext cx="82296" cy="1115568"/>
          </a:xfrm>
          <a:prstGeom prst="rect">
            <a:avLst/>
          </a:prstGeom>
          <a:solidFill>
            <a:srgbClr val="3B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27064" y="3611879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ML PREDICTION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7064" y="3895344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302B30"/>
                </a:solidFill>
                <a:latin typeface="Aptos"/>
              </a:rPr>
              <a:t>Gradient Boosting • prior 2h glucose, HR, steps, time of day and HbA1c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3474720"/>
            <a:ext cx="233172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32520" y="3474720"/>
            <a:ext cx="82296" cy="1115568"/>
          </a:xfrm>
          <a:prstGeom prst="rect">
            <a:avLst/>
          </a:prstGeom>
          <a:solidFill>
            <a:srgbClr val="3B6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70264" y="3611879"/>
            <a:ext cx="1975103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210" b="1" i="0">
                <a:solidFill>
                  <a:srgbClr val="56304F"/>
                </a:solidFill>
                <a:latin typeface="Aptos"/>
              </a:rPr>
              <a:t>PREDICTION &amp; OUTCOME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0264" y="3895344"/>
            <a:ext cx="1975103" cy="649224"/>
          </a:xfrm>
          <a:prstGeom prst="rect">
            <a:avLst/>
          </a:prstGeom>
          <a:noFill/>
        </p:spPr>
        <p:txBody>
          <a:bodyPr wrap="square" lIns="0" rIns="9144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90">
                <a:solidFill>
                  <a:srgbClr val="302B30"/>
                </a:solidFill>
                <a:latin typeface="Aptos"/>
              </a:rPr>
              <a:t>Estimate the glucose event; compare with later CGM when covered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03120" y="5239512"/>
            <a:ext cx="8046720" cy="640080"/>
          </a:xfrm>
          <a:prstGeom prst="roundRect">
            <a:avLst/>
          </a:prstGeom>
          <a:solidFill>
            <a:srgbClr val="56304F"/>
          </a:solidFill>
          <a:ln w="10160">
            <a:solidFill>
              <a:srgbClr val="56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23160" y="5404104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DOCTOR BRIEF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5413248"/>
            <a:ext cx="53492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30" b="0" i="0">
                <a:solidFill>
                  <a:srgbClr val="FFFFFF"/>
                </a:solidFill>
                <a:latin typeface="Aptos"/>
              </a:rPr>
              <a:t>Patient-specific summary of available records and limitations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6035040"/>
            <a:ext cx="108813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940" b="0" i="1">
                <a:solidFill>
                  <a:srgbClr val="756970"/>
                </a:solidFill>
                <a:latin typeface="Aptos"/>
              </a:rPr>
              <a:t>Boundary: cycle and symptom records remain separate in this release; HR and steps are model inputs but are not stored directly in the saved Twin state.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537960"/>
            <a:ext cx="457200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850" b="1" i="0">
                <a:solidFill>
                  <a:srgbClr val="756970"/>
                </a:solidFill>
                <a:latin typeface="Aptos"/>
              </a:rPr>
              <a:t>NAARI  •  PCOS DIGITAL TWIN RESEARCH PROTOTYPE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83696" y="6510528"/>
            <a:ext cx="36576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900" b="1" i="0">
                <a:solidFill>
                  <a:srgbClr val="70476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